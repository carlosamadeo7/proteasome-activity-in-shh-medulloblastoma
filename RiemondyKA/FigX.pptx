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60" r:id="rId3"/>
    <p:sldId id="261" r:id="rId4"/>
    <p:sldId id="262" r:id="rId5"/>
    <p:sldId id="257" r:id="rId6"/>
    <p:sldId id="258" r:id="rId7"/>
    <p:sldId id="259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B6D11B-BD38-43CE-AF60-060959455740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12FA39-24A8-4BC2-9A01-22DF6FF87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772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12FA39-24A8-4BC2-9A01-22DF6FF879D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988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79682-28D8-46E7-8018-ABE9B9FE8A4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DFFB1-1F3D-4B05-A1F9-3B86380A6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98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79682-28D8-46E7-8018-ABE9B9FE8A4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DFFB1-1F3D-4B05-A1F9-3B86380A6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821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79682-28D8-46E7-8018-ABE9B9FE8A4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DFFB1-1F3D-4B05-A1F9-3B86380A6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365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79682-28D8-46E7-8018-ABE9B9FE8A4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DFFB1-1F3D-4B05-A1F9-3B86380A6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552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79682-28D8-46E7-8018-ABE9B9FE8A4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DFFB1-1F3D-4B05-A1F9-3B86380A6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293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79682-28D8-46E7-8018-ABE9B9FE8A4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DFFB1-1F3D-4B05-A1F9-3B86380A6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29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79682-28D8-46E7-8018-ABE9B9FE8A4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DFFB1-1F3D-4B05-A1F9-3B86380A6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021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79682-28D8-46E7-8018-ABE9B9FE8A4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DFFB1-1F3D-4B05-A1F9-3B86380A6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9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79682-28D8-46E7-8018-ABE9B9FE8A4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DFFB1-1F3D-4B05-A1F9-3B86380A6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82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79682-28D8-46E7-8018-ABE9B9FE8A4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DFFB1-1F3D-4B05-A1F9-3B86380A6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17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79682-28D8-46E7-8018-ABE9B9FE8A4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DFFB1-1F3D-4B05-A1F9-3B86380A6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204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479682-28D8-46E7-8018-ABE9B9FE8A4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8DFFB1-1F3D-4B05-A1F9-3B86380A6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300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D3A4F-636A-62F9-137E-58F7FCEADC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/>
              <a:t>PROTEASOME </a:t>
            </a:r>
            <a:r>
              <a:rPr lang="en-US" b="1" dirty="0"/>
              <a:t>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90EDC-4412-A517-F48C-6085557D86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081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92B9A-ADD9-D219-EA78-A0FBA03A2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7547"/>
            <a:ext cx="11640065" cy="68103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Question1: Do the mean proteasome expression scores differ between histology groups (MB and non-tumor)?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72F867-4A16-A3D3-360F-509E6AC76FFF}"/>
              </a:ext>
            </a:extLst>
          </p:cNvPr>
          <p:cNvSpPr txBox="1"/>
          <p:nvPr/>
        </p:nvSpPr>
        <p:spPr>
          <a:xfrm>
            <a:off x="0" y="1631092"/>
            <a:ext cx="296974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All proteasome subunits" expression comparing non-tumor, MB and GBM (Griesinger dataset from </a:t>
            </a:r>
            <a:r>
              <a:rPr lang="en-US" dirty="0" err="1"/>
              <a:t>GlioVis</a:t>
            </a:r>
            <a:r>
              <a:rPr lang="en-US" dirty="0"/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005971-7A90-0A26-FC3A-335DF99CE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028" y="1369235"/>
            <a:ext cx="7110589" cy="5041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900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97334-38F3-C169-6056-4793AD408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3" y="553715"/>
            <a:ext cx="11948984" cy="59958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Question2</a:t>
            </a:r>
            <a:r>
              <a:rPr lang="en-US" dirty="0"/>
              <a:t>: </a:t>
            </a:r>
            <a:r>
              <a:rPr lang="en-US" b="1" dirty="0"/>
              <a:t>Do the mean proteasome expression scores differ between histology groups (SHH, GP3, GP4 and WNT)?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DBF2A1-9167-6B96-000D-71468EE7CB77}"/>
              </a:ext>
            </a:extLst>
          </p:cNvPr>
          <p:cNvSpPr txBox="1"/>
          <p:nvPr/>
        </p:nvSpPr>
        <p:spPr>
          <a:xfrm>
            <a:off x="140044" y="1704887"/>
            <a:ext cx="28956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"All proteasome subunits" expression comparing MB subgroups (Northcott dataset).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C4CE8D-C31A-1479-E4B0-C19AE5174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635" y="1219198"/>
            <a:ext cx="7960138" cy="56006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F85340-C864-FA9A-CFB9-4AB51E709B71}"/>
              </a:ext>
            </a:extLst>
          </p:cNvPr>
          <p:cNvSpPr txBox="1"/>
          <p:nvPr/>
        </p:nvSpPr>
        <p:spPr>
          <a:xfrm>
            <a:off x="140044" y="3068249"/>
            <a:ext cx="289560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GP3 and WNT have the highest mean </a:t>
            </a:r>
            <a:r>
              <a:rPr lang="en-US" dirty="0" err="1"/>
              <a:t>LogFC</a:t>
            </a:r>
            <a:r>
              <a:rPr lang="en-US" dirty="0"/>
              <a:t> proteasome signature expression among the groups( they are not significant to each other).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SHH and GP4 do not differ in proteasome expression.</a:t>
            </a:r>
          </a:p>
        </p:txBody>
      </p:sp>
    </p:spTree>
    <p:extLst>
      <p:ext uri="{BB962C8B-B14F-4D97-AF65-F5344CB8AC3E}">
        <p14:creationId xmlns:p14="http://schemas.microsoft.com/office/powerpoint/2010/main" val="2035331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899EDBB-D562-87CE-BE4A-9E8F87EEDE8C}"/>
              </a:ext>
            </a:extLst>
          </p:cNvPr>
          <p:cNvSpPr txBox="1"/>
          <p:nvPr/>
        </p:nvSpPr>
        <p:spPr>
          <a:xfrm>
            <a:off x="2965621" y="1857287"/>
            <a:ext cx="6096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Question3</a:t>
            </a:r>
            <a:r>
              <a:rPr lang="en-US" sz="4000" dirty="0"/>
              <a:t>: </a:t>
            </a:r>
            <a:r>
              <a:rPr lang="en-US" sz="4000" b="1" dirty="0"/>
              <a:t>Investigate proteasome signature in a single cell dataset ( </a:t>
            </a:r>
            <a:r>
              <a:rPr lang="en-US" sz="4000" b="1" dirty="0" err="1"/>
              <a:t>Riemondy</a:t>
            </a:r>
            <a:r>
              <a:rPr lang="en-US" sz="4000" b="1" dirty="0"/>
              <a:t> et al.)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836057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B1003E5-F55B-F541-87FC-F61344F7879E}"/>
              </a:ext>
            </a:extLst>
          </p:cNvPr>
          <p:cNvSpPr txBox="1"/>
          <p:nvPr/>
        </p:nvSpPr>
        <p:spPr>
          <a:xfrm>
            <a:off x="7495746" y="47501"/>
            <a:ext cx="251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Proteasome signature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D5C63-22F1-25EC-451F-A2679C9E080E}"/>
              </a:ext>
            </a:extLst>
          </p:cNvPr>
          <p:cNvSpPr txBox="1"/>
          <p:nvPr/>
        </p:nvSpPr>
        <p:spPr>
          <a:xfrm>
            <a:off x="4534457" y="47501"/>
            <a:ext cx="251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Sub-Group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02E3FA-4F2C-B4A7-714B-ECE3638EDF14}"/>
              </a:ext>
            </a:extLst>
          </p:cNvPr>
          <p:cNvSpPr txBox="1"/>
          <p:nvPr/>
        </p:nvSpPr>
        <p:spPr>
          <a:xfrm>
            <a:off x="10291001" y="31837"/>
            <a:ext cx="13102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Total proportion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A18DDD-746A-1FAD-2DCF-9CA8875DABC5}"/>
              </a:ext>
            </a:extLst>
          </p:cNvPr>
          <p:cNvSpPr txBox="1"/>
          <p:nvPr/>
        </p:nvSpPr>
        <p:spPr>
          <a:xfrm>
            <a:off x="152171" y="47501"/>
            <a:ext cx="3352800" cy="7155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Active proteasome signature was identified in the </a:t>
            </a:r>
            <a:r>
              <a:rPr lang="en-US" sz="1700" dirty="0" err="1"/>
              <a:t>Riemondy</a:t>
            </a:r>
            <a:r>
              <a:rPr lang="en-US" sz="1700" dirty="0"/>
              <a:t> et </a:t>
            </a:r>
            <a:r>
              <a:rPr lang="en-US" sz="1700" dirty="0" err="1"/>
              <a:t>al.dataset</a:t>
            </a:r>
            <a:r>
              <a:rPr lang="en-US" sz="1700" dirty="0"/>
              <a:t> (</a:t>
            </a:r>
            <a:r>
              <a:rPr lang="en-US" sz="1700" i="1" dirty="0"/>
              <a:t>28 human samples across SHH, GP3, and GP4, WNT</a:t>
            </a:r>
            <a:r>
              <a:rPr lang="en-US" sz="1700" dirty="0"/>
              <a:t> ), using </a:t>
            </a:r>
            <a:r>
              <a:rPr lang="en-US" sz="1700" dirty="0" err="1"/>
              <a:t>AUCell</a:t>
            </a:r>
            <a:r>
              <a:rPr lang="en-US" sz="1700" dirty="0"/>
              <a:t> within the integrated dataset to have a comparable threshold.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Then, each subgroup was analyzed independently, and three main hub-cluster were identified (like the paper ) : A&lt;- Cycling cells, B&lt;- Progenitor-like, C&lt;- Differentiated-like.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We observe that the proteasome signature is more active in GP3 ( 15% of total cells) when compared to SHH ( 9%) and GP4 ( 6%). </a:t>
            </a:r>
            <a:r>
              <a:rPr lang="en-US" sz="1700" i="1" dirty="0"/>
              <a:t>Similar to Cavalli distribution before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Active proteasome signature is mainly located in A-program and B-program across subgroups, and sometime C2-program that was identified as the photoceptor population in GP3 and GP4.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AE530EA-46DA-BC54-E5A5-9146C77D4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132" y="293447"/>
            <a:ext cx="6411214" cy="637097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0EE48D4-59E3-6243-72B5-2636681C7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0346" y="309110"/>
            <a:ext cx="2181654" cy="173287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93D0129-4509-3B10-7696-C83276BFC3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0996" y="2287928"/>
            <a:ext cx="2242694" cy="183099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7A8E42A-681C-D774-A333-57870CF923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5049" y="4471055"/>
            <a:ext cx="2242694" cy="183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635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3B3B8F9-BB88-D790-6030-3AEC1C0956A7}"/>
              </a:ext>
            </a:extLst>
          </p:cNvPr>
          <p:cNvSpPr txBox="1"/>
          <p:nvPr/>
        </p:nvSpPr>
        <p:spPr>
          <a:xfrm>
            <a:off x="8550876" y="3291254"/>
            <a:ext cx="3534032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/>
              <a:t>Proportion of + and - Proteasome signature per cluster in each group (SHH, GP3, GP4).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/>
              <a:t>SHH and GP3 have similar proteasome signature in the A-program with ~26% of cells in SHH and ~23% in GP3, while GP4 has ~15%.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/>
              <a:t>In GP3, proteasome signature is mainly located in the progenitor-like program ( B1 ) when compared to SHH, and GP4.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9B484A-3CE8-A55E-F9FD-BD91474E8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03458"/>
            <a:ext cx="8883318" cy="29095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DB8550-B907-CD95-29FA-B5C6490A4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52" y="175368"/>
            <a:ext cx="3846315" cy="27572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5851BF4-FA5A-384D-B11A-FC90EA86C678}"/>
              </a:ext>
            </a:extLst>
          </p:cNvPr>
          <p:cNvSpPr txBox="1"/>
          <p:nvPr/>
        </p:nvSpPr>
        <p:spPr>
          <a:xfrm>
            <a:off x="3961267" y="68995"/>
            <a:ext cx="2381490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/>
              <a:t>Overall distribution of proteasome signature score/cell shows differences ( </a:t>
            </a:r>
            <a:r>
              <a:rPr lang="en-US" sz="1700" i="1" dirty="0"/>
              <a:t>ANOVA Tukey </a:t>
            </a:r>
            <a:r>
              <a:rPr lang="en-US" sz="1700" i="1" dirty="0" err="1"/>
              <a:t>posthoc</a:t>
            </a:r>
            <a:r>
              <a:rPr lang="en-US" sz="1700" dirty="0"/>
              <a:t>) between SHH, GP3 and GP4, with higher scores in GP3 followed by SHH and then SP4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DB06D3-BBF1-3DFF-CBF4-8C8FD7770E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3880" y="60515"/>
            <a:ext cx="3978875" cy="2859216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3018ACD-3ABF-5CFF-7BC1-BA44631759AC}"/>
              </a:ext>
            </a:extLst>
          </p:cNvPr>
          <p:cNvCxnSpPr/>
          <p:nvPr/>
        </p:nvCxnSpPr>
        <p:spPr>
          <a:xfrm>
            <a:off x="4028303" y="2967860"/>
            <a:ext cx="413356" cy="2613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537CD9B-91C6-201B-C343-5C2C03B71C00}"/>
              </a:ext>
            </a:extLst>
          </p:cNvPr>
          <p:cNvCxnSpPr>
            <a:cxnSpLocks/>
          </p:cNvCxnSpPr>
          <p:nvPr/>
        </p:nvCxnSpPr>
        <p:spPr>
          <a:xfrm flipV="1">
            <a:off x="6409793" y="2923877"/>
            <a:ext cx="649703" cy="2949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01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261ED1-19C0-7457-21D8-C8B3A676E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17452" cy="30898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F779F0-942F-C767-7591-F140EC082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845" y="44879"/>
            <a:ext cx="4242486" cy="30449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6046BA-E968-5A85-28DB-77E35E887D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089806"/>
            <a:ext cx="4505371" cy="32289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D2A8C97-47F2-16F7-8F88-AB14E00522D2}"/>
              </a:ext>
            </a:extLst>
          </p:cNvPr>
          <p:cNvSpPr txBox="1"/>
          <p:nvPr/>
        </p:nvSpPr>
        <p:spPr>
          <a:xfrm>
            <a:off x="4694778" y="3089806"/>
            <a:ext cx="3814145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/>
              <a:t>Overall distribution of proteasome signature score/cell in each group and taking into consideration Cavalli dataset subgroups..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/>
              <a:t>In GP4, GP4 alpha has the overall highest proteasome score when compared to the other subtypes.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/>
              <a:t>In GP3, GP3 gamma has the overall highest proteasome score when compared to the other subtypes.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/>
              <a:t>In SHH, SHH delta has the overall highest proteasome score when compared to the other subtypes.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A898740B-D194-4C18-5D2F-7ED4F242983E}"/>
              </a:ext>
            </a:extLst>
          </p:cNvPr>
          <p:cNvSpPr/>
          <p:nvPr/>
        </p:nvSpPr>
        <p:spPr>
          <a:xfrm>
            <a:off x="1803263" y="539224"/>
            <a:ext cx="190294" cy="193944"/>
          </a:xfrm>
          <a:prstGeom prst="plus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ross 11">
            <a:extLst>
              <a:ext uri="{FF2B5EF4-FFF2-40B4-BE49-F238E27FC236}">
                <a16:creationId xmlns:a16="http://schemas.microsoft.com/office/drawing/2014/main" id="{5E0624AF-7A01-BDEC-D75F-5E524DFAD000}"/>
              </a:ext>
            </a:extLst>
          </p:cNvPr>
          <p:cNvSpPr/>
          <p:nvPr/>
        </p:nvSpPr>
        <p:spPr>
          <a:xfrm>
            <a:off x="2935966" y="3429000"/>
            <a:ext cx="190294" cy="193944"/>
          </a:xfrm>
          <a:prstGeom prst="plus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ross 12">
            <a:extLst>
              <a:ext uri="{FF2B5EF4-FFF2-40B4-BE49-F238E27FC236}">
                <a16:creationId xmlns:a16="http://schemas.microsoft.com/office/drawing/2014/main" id="{803B6BFE-7ED6-759B-E850-C14CF7DE4348}"/>
              </a:ext>
            </a:extLst>
          </p:cNvPr>
          <p:cNvSpPr/>
          <p:nvPr/>
        </p:nvSpPr>
        <p:spPr>
          <a:xfrm>
            <a:off x="5329058" y="236838"/>
            <a:ext cx="190294" cy="193944"/>
          </a:xfrm>
          <a:prstGeom prst="plus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7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5D149-C9E9-DBAF-9592-AED5F993A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282616" cy="97852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SOX2 expression and proteasome signature scores in SHH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4C3360-8537-8902-C892-4191614E1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6778"/>
            <a:ext cx="5185579" cy="30647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39325E-3D78-EC73-D0DE-709E56A5A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728" y="883423"/>
            <a:ext cx="5054404" cy="31050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C29FFC-304C-AD40-32F1-FD3130A83996}"/>
              </a:ext>
            </a:extLst>
          </p:cNvPr>
          <p:cNvSpPr txBox="1"/>
          <p:nvPr/>
        </p:nvSpPr>
        <p:spPr>
          <a:xfrm>
            <a:off x="9707171" y="883423"/>
            <a:ext cx="1054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p = -0.24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01CC06-CDF6-75FB-88BB-C815740279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287" y="4268524"/>
            <a:ext cx="4178839" cy="25712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CEF7F1-83C3-D763-B654-8D78C9802290}"/>
              </a:ext>
            </a:extLst>
          </p:cNvPr>
          <p:cNvSpPr txBox="1"/>
          <p:nvPr/>
        </p:nvSpPr>
        <p:spPr>
          <a:xfrm>
            <a:off x="3716683" y="4144957"/>
            <a:ext cx="1054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p = -0.21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12669F-6E4E-4185-17BD-36D0A05100AD}"/>
              </a:ext>
            </a:extLst>
          </p:cNvPr>
          <p:cNvSpPr txBox="1"/>
          <p:nvPr/>
        </p:nvSpPr>
        <p:spPr>
          <a:xfrm>
            <a:off x="5836508" y="4179232"/>
            <a:ext cx="6050692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/>
              <a:t>Overall distribution of proteasome signature score/cell &amp; SOX2 expression ( </a:t>
            </a:r>
            <a:r>
              <a:rPr lang="en-US" sz="1700" i="1" dirty="0"/>
              <a:t>not 0 expression</a:t>
            </a:r>
            <a:r>
              <a:rPr lang="en-US" sz="1700" dirty="0"/>
              <a:t>) shows negative correlation -0.24.</a:t>
            </a:r>
          </a:p>
          <a:p>
            <a:pPr algn="just"/>
            <a:endParaRPr lang="en-US" sz="17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/>
              <a:t>Cycling cells (A1 program) distribution of proteasome signature score/cell &amp; SOX2 expression ( </a:t>
            </a:r>
            <a:r>
              <a:rPr lang="en-US" sz="1700" i="1" dirty="0"/>
              <a:t>not 0 expression</a:t>
            </a:r>
            <a:r>
              <a:rPr lang="en-US" sz="1700" dirty="0"/>
              <a:t>) shows negative correlation -0.21.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292972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65682-BD7C-CEED-34BA-C555C8FFD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28C58-BEE2-BE25-B593-B0EEF0EDE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282616" cy="97852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Hedgegog Hallmark and proteasome signature are anti correlated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812DE3-29AD-EEE8-F0A2-E9D9EB0ABB5D}"/>
              </a:ext>
            </a:extLst>
          </p:cNvPr>
          <p:cNvSpPr txBox="1"/>
          <p:nvPr/>
        </p:nvSpPr>
        <p:spPr>
          <a:xfrm>
            <a:off x="0" y="4453115"/>
            <a:ext cx="4995333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/>
              <a:t>Overall distribution of proteasome signature score/cell &amp; HH signaling from HALLMARKS shows negative correlation -0.32.</a:t>
            </a:r>
          </a:p>
          <a:p>
            <a:pPr algn="just"/>
            <a:endParaRPr lang="en-US" sz="17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17D14E-C8FB-818B-A12E-DD3B9ED1E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208402"/>
            <a:ext cx="4980503" cy="30385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8EF34C-A435-D26A-C5A2-4637B5DE3280}"/>
              </a:ext>
            </a:extLst>
          </p:cNvPr>
          <p:cNvSpPr txBox="1"/>
          <p:nvPr/>
        </p:nvSpPr>
        <p:spPr>
          <a:xfrm>
            <a:off x="3460394" y="1425290"/>
            <a:ext cx="1054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p = -0.32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5B63B2-9442-9C85-AF5D-BF4E60A34AAE}"/>
              </a:ext>
            </a:extLst>
          </p:cNvPr>
          <p:cNvSpPr txBox="1"/>
          <p:nvPr/>
        </p:nvSpPr>
        <p:spPr>
          <a:xfrm>
            <a:off x="5548643" y="4882957"/>
            <a:ext cx="5768316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17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/>
              <a:t>Distribution of proteasome signature score/cell &amp; HH signaling from HALLMARKS, split by tumor subpopulations. Mainly a negative correlation 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F9426B8-4825-FF6E-2BEC-69D289F1A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1533" y="507516"/>
            <a:ext cx="7120467" cy="437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248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3351</TotalTime>
  <Words>556</Words>
  <Application>Microsoft Office PowerPoint</Application>
  <PresentationFormat>Widescreen</PresentationFormat>
  <Paragraphs>41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PROTEASOME project</vt:lpstr>
      <vt:lpstr>Question1: Do the mean proteasome expression scores differ between histology groups (MB and non-tumor)? </vt:lpstr>
      <vt:lpstr>Question2: Do the mean proteasome expression scores differ between histology groups (SHH, GP3, GP4 and WNT)? </vt:lpstr>
      <vt:lpstr>PowerPoint Presentation</vt:lpstr>
      <vt:lpstr>PowerPoint Presentation</vt:lpstr>
      <vt:lpstr>PowerPoint Presentation</vt:lpstr>
      <vt:lpstr>PowerPoint Presentation</vt:lpstr>
      <vt:lpstr>SOX2 expression and proteasome signature scores in SHH </vt:lpstr>
      <vt:lpstr>Hedgegog Hallmark and proteasome signature are anti correlated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Alfaro</dc:creator>
  <cp:lastModifiedBy>Carlos Alfaro</cp:lastModifiedBy>
  <cp:revision>41</cp:revision>
  <dcterms:created xsi:type="dcterms:W3CDTF">2026-04-02T16:51:21Z</dcterms:created>
  <dcterms:modified xsi:type="dcterms:W3CDTF">2026-05-04T17:27:00Z</dcterms:modified>
</cp:coreProperties>
</file>